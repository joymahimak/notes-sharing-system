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85" r:id="rId4"/>
    <p:sldId id="290" r:id="rId5"/>
    <p:sldId id="258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2" r:id="rId17"/>
    <p:sldId id="301" r:id="rId18"/>
    <p:sldId id="303" r:id="rId19"/>
    <p:sldId id="304" r:id="rId20"/>
    <p:sldId id="305" r:id="rId21"/>
    <p:sldId id="306" r:id="rId22"/>
    <p:sldId id="307" r:id="rId23"/>
    <p:sldId id="308" r:id="rId24"/>
    <p:sldId id="313" r:id="rId25"/>
    <p:sldId id="314" r:id="rId26"/>
    <p:sldId id="315" r:id="rId27"/>
    <p:sldId id="309" r:id="rId28"/>
    <p:sldId id="310" r:id="rId29"/>
    <p:sldId id="311" r:id="rId30"/>
    <p:sldId id="312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7" r:id="rId41"/>
    <p:sldId id="328" r:id="rId42"/>
    <p:sldId id="325" r:id="rId43"/>
    <p:sldId id="326" r:id="rId44"/>
    <p:sldId id="329" r:id="rId45"/>
    <p:sldId id="33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CE9A3-1C74-4CC7-B538-919FF1658A22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8C943-113F-47F7-AF4B-74893DC74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134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8C943-113F-47F7-AF4B-74893DC747F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77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0779-AE10-CB3A-57AD-2BC98A186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F9CAB-0DEC-2BA0-B737-28193870A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FCAC1-3DA3-C081-4DBE-05B0B916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2A70A-2EEC-1EF2-9C0F-0C42E551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AFF5C-E92E-F3EC-7A4C-653DB861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57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25A1-470F-B224-3A36-1BD5019CF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380B5-BA17-92A4-655F-282CC63DD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16366-0E77-C4E4-A4BF-C57389B9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90907-AAC7-07AB-47AD-555BD732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E099C-99EB-B312-6488-2C50BD25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3046-1DD8-0845-6E8D-377D5E13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98D6B-763D-AD1D-C8DD-41DE62429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56344-C244-3D67-B6B6-11F7980F8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0CC80-BEFF-3783-05B2-5EF755DE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0032B-4677-AB7E-FB58-FDE055C0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00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37FF-C64F-1004-1C67-C07D2481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51068-AEF5-8002-EBA9-C39C1E63E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CD2EB-85A9-7F65-BECE-B51D93B40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8D09A-62C7-CC38-8567-B9E41BF3E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8F6FC-5914-2913-F623-ED0AD35D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1BE06-DADC-88F0-E260-42CB962E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7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9309D-2B3B-F366-6104-47F9FBF1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2DF63-9D90-4F82-C04E-54A5E71B3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37FF7-EB77-63AB-D2BD-30784DCA6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18799-5903-33AE-123E-99180BB51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2BEB9-5A1B-65B2-5688-8A509AFF1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21B022-4641-6A41-0269-E61E542A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74CCA-E6B8-0BAD-D76D-6BC53F0F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28541-4F0F-5310-DA6D-C251BB8D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05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21B9-FF53-9B40-3610-78F5BD91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C9E34-432B-DFB7-CF49-CAD776AD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E111A-B1AD-8698-BB82-CC3E2BA2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3F096-85B9-DFC8-8A58-F3CB43B6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453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AF9D1-5324-4E3C-70F7-670295B4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CED28-75CD-F18A-76AA-97AFAE27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685C0-C02B-EA38-4825-3429D9B2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552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AD13-25B8-4A19-51F4-F9B02606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F1E72-1B11-B308-5418-0F3C86960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BE4AA-1679-B7A2-3E58-2E81DA37B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5257F-2041-A322-99CC-6CC94944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123D6-3611-C650-858A-FF8B4F28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72042-BAD4-1B32-AEEE-ECF301CD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465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9EE2-71FC-755E-104F-4BE20486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7D596-908C-779C-3B84-3638B1121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1441A-CDC2-A24F-65C5-779688AED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48C47-3EC1-F31B-9CD1-F41E243F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6B144-E23F-F208-17C5-F2CC2D18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90356-E3A7-3516-CFCE-A1DC86AB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85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B096-6407-A46E-7132-A6E26C8B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9F63ED-0E34-F9DC-AA70-0095D0C07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E8BDB-8B37-8740-D537-336785475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2CC98-FC37-8636-67F2-B181D1DD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F2B80-559A-FBF3-DB8E-1074630B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92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6C2E5-280B-DF6F-20DE-2A5CE135C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9058A-1A73-2C46-09E9-F76E9FA93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BBA5E-76F6-44AF-23D8-CBB3F59F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5392-B7F9-5DD4-90D7-A68B1FBD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7328E-DC57-E7D0-E3CA-8E1D3A40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5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7A01D9-AD5D-243B-57AC-EB9D527B2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AE076-1441-E656-350D-EBE1FF848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7B5D5-B431-77A4-59C3-9FFDBD7E0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5E175-CC1B-49B6-BF1D-4F6B49866EF9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7EE63-B391-AF8B-B4C9-F742688F3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96206-26A7-A380-34C7-7F2EE0086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696AC-23E0-49C4-9B2D-418F504F3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92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2F4D-ACD6-D77F-6057-F1CE917B17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III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86E31-4DB2-2523-092F-F42B8588A3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4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954B-BA33-52EA-EE97-FC0427303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Unit 3: Syntactic Analysis</a:t>
            </a:r>
          </a:p>
          <a:p>
            <a:r>
              <a:rPr lang="en-IN" dirty="0"/>
              <a:t>Context-Free Grammars, Grammar rules for English, Treebanks, Normal Forms for grammar</a:t>
            </a:r>
          </a:p>
          <a:p>
            <a:r>
              <a:rPr lang="en-IN" dirty="0"/>
              <a:t>– Dependency Grammar – Syntactic Parsing, Ambiguity, Dynamic Programming parsing – Shallow parsing –Feature structures, Unification of feature structures.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52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57400" y="0"/>
            <a:ext cx="82296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33600" y="304800"/>
            <a:ext cx="82296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0E80-8381-0BCF-BD95-05728496E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0424"/>
            <a:ext cx="10515600" cy="5346539"/>
          </a:xfrm>
        </p:spPr>
        <p:txBody>
          <a:bodyPr/>
          <a:lstStyle/>
          <a:p>
            <a:r>
              <a:rPr lang="en-IN" dirty="0"/>
              <a:t>S → NP VP</a:t>
            </a:r>
          </a:p>
          <a:p>
            <a:r>
              <a:rPr lang="en-IN" dirty="0"/>
              <a:t>NP → Det N</a:t>
            </a:r>
          </a:p>
          <a:p>
            <a:r>
              <a:rPr lang="en-IN" dirty="0"/>
              <a:t>VP → V NP</a:t>
            </a:r>
          </a:p>
          <a:p>
            <a:r>
              <a:rPr lang="en-IN" dirty="0"/>
              <a:t>Det → "the" | "a"</a:t>
            </a:r>
          </a:p>
          <a:p>
            <a:r>
              <a:rPr lang="en-IN" dirty="0"/>
              <a:t>N → "cat" | "dog"</a:t>
            </a:r>
          </a:p>
          <a:p>
            <a:r>
              <a:rPr lang="en-IN" dirty="0"/>
              <a:t>V → "chased" | "saw“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Sentence Generation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"The cat chased a dog"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 dog saw the cat"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92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AAF9-487A-7E4A-9F32-37844DB43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90"/>
            <a:ext cx="10515600" cy="5570473"/>
          </a:xfrm>
        </p:spPr>
        <p:txBody>
          <a:bodyPr>
            <a:normAutofit/>
          </a:bodyPr>
          <a:lstStyle/>
          <a:p>
            <a:r>
              <a:rPr lang="en-US" dirty="0"/>
              <a:t>S → NP VP</a:t>
            </a:r>
          </a:p>
          <a:p>
            <a:r>
              <a:rPr lang="en-US" dirty="0"/>
              <a:t>NP → Det N | NP PP</a:t>
            </a:r>
          </a:p>
          <a:p>
            <a:r>
              <a:rPr lang="en-US" dirty="0"/>
              <a:t>VP → V NP | VP PP</a:t>
            </a:r>
          </a:p>
          <a:p>
            <a:r>
              <a:rPr lang="en-US" dirty="0"/>
              <a:t>PP → P NP</a:t>
            </a:r>
          </a:p>
          <a:p>
            <a:r>
              <a:rPr lang="en-US" dirty="0"/>
              <a:t>Det → "the" | "a"</a:t>
            </a:r>
          </a:p>
          <a:p>
            <a:r>
              <a:rPr lang="en-US" dirty="0"/>
              <a:t>N → "boy" | "girl" | "dog"</a:t>
            </a:r>
          </a:p>
          <a:p>
            <a:r>
              <a:rPr lang="en-US" dirty="0"/>
              <a:t>V → "sees" | "likes"</a:t>
            </a:r>
          </a:p>
          <a:p>
            <a:r>
              <a:rPr lang="en-US" dirty="0"/>
              <a:t>P → "with" | "on"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Sentences</a:t>
            </a:r>
            <a:r>
              <a:rPr lang="en-US" dirty="0"/>
              <a:t> "The boy sees a dog"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 girl likes the boy with the dog"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99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BE259-3BCE-F413-8471-21B293001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20"/>
            <a:ext cx="10515600" cy="637280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 → NP VP | Aux NP VP</a:t>
            </a:r>
          </a:p>
          <a:p>
            <a:r>
              <a:rPr lang="en-US" dirty="0"/>
              <a:t>NP → Det N | Pronoun</a:t>
            </a:r>
          </a:p>
          <a:p>
            <a:r>
              <a:rPr lang="en-US" dirty="0"/>
              <a:t>VP → V NP | V NP PP</a:t>
            </a:r>
          </a:p>
          <a:p>
            <a:r>
              <a:rPr lang="en-US" dirty="0"/>
              <a:t>PP → P NP</a:t>
            </a:r>
          </a:p>
          <a:p>
            <a:r>
              <a:rPr lang="en-US" dirty="0"/>
              <a:t>Aux → "does"</a:t>
            </a:r>
          </a:p>
          <a:p>
            <a:r>
              <a:rPr lang="en-US" dirty="0"/>
              <a:t>Det → "the" | "a"</a:t>
            </a:r>
          </a:p>
          <a:p>
            <a:r>
              <a:rPr lang="en-US" dirty="0"/>
              <a:t>N → "man" | "book"</a:t>
            </a:r>
          </a:p>
          <a:p>
            <a:r>
              <a:rPr lang="en-US" dirty="0"/>
              <a:t>V → "read"</a:t>
            </a:r>
          </a:p>
          <a:p>
            <a:r>
              <a:rPr lang="en-US" dirty="0"/>
              <a:t>P → "in"</a:t>
            </a:r>
          </a:p>
          <a:p>
            <a:r>
              <a:rPr lang="en-US" dirty="0"/>
              <a:t>Pronoun → "he" | "she“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r>
              <a:rPr lang="en-US" dirty="0"/>
              <a:t>"He reads a book"</a:t>
            </a:r>
          </a:p>
          <a:p>
            <a:r>
              <a:rPr lang="en-US" dirty="0"/>
              <a:t>"Does the man read a book?"</a:t>
            </a:r>
          </a:p>
          <a:p>
            <a:r>
              <a:rPr lang="en-US" dirty="0"/>
              <a:t>"She reads the book in the library"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7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A6638-8F49-A592-249F-B63F616DD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918"/>
            <a:ext cx="10515600" cy="5897045"/>
          </a:xfrm>
        </p:spPr>
        <p:txBody>
          <a:bodyPr/>
          <a:lstStyle/>
          <a:p>
            <a:r>
              <a:rPr lang="en-US" dirty="0"/>
              <a:t>S → NP VP</a:t>
            </a:r>
          </a:p>
          <a:p>
            <a:r>
              <a:rPr lang="en-US" dirty="0"/>
              <a:t>NP → NP </a:t>
            </a:r>
            <a:r>
              <a:rPr lang="en-US" dirty="0" err="1"/>
              <a:t>Conj</a:t>
            </a:r>
            <a:r>
              <a:rPr lang="en-US" dirty="0"/>
              <a:t> NP | Det N</a:t>
            </a:r>
          </a:p>
          <a:p>
            <a:r>
              <a:rPr lang="en-US" dirty="0"/>
              <a:t>VP → V NP</a:t>
            </a:r>
          </a:p>
          <a:p>
            <a:r>
              <a:rPr lang="en-US" dirty="0" err="1"/>
              <a:t>Conj</a:t>
            </a:r>
            <a:r>
              <a:rPr lang="en-US" dirty="0"/>
              <a:t> → "and" | "or"</a:t>
            </a:r>
          </a:p>
          <a:p>
            <a:r>
              <a:rPr lang="en-US" dirty="0"/>
              <a:t>Det → "the" | "a"</a:t>
            </a:r>
          </a:p>
          <a:p>
            <a:r>
              <a:rPr lang="en-US" dirty="0"/>
              <a:t>N → "cat" | "dog"</a:t>
            </a:r>
          </a:p>
          <a:p>
            <a:r>
              <a:rPr lang="en-US" dirty="0"/>
              <a:t>V → "chases" | "sees“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Sentences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"The cat and the dog chase a ball"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 dog or a cat sees the man"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99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1765F-4E5D-E3F2-7401-FF2FBDB6B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506"/>
            <a:ext cx="10515600" cy="562645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Applications of CFG in NLP: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Parsing and Syntax Analysis:</a:t>
            </a:r>
            <a:r>
              <a:rPr lang="en-US" dirty="0"/>
              <a:t> Used in natural language parsers.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Speech Recognition:</a:t>
            </a:r>
            <a:r>
              <a:rPr lang="en-US" dirty="0"/>
              <a:t> Helps in structuring spoken phrases.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Machine Translation:</a:t>
            </a:r>
            <a:r>
              <a:rPr lang="en-US" dirty="0"/>
              <a:t> Defines grammatical structures across languages.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Chatbots &amp; AI Assistants:</a:t>
            </a:r>
            <a:r>
              <a:rPr lang="en-US" dirty="0"/>
              <a:t> Helps in generating syntactically correct responses.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7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7A83-B50F-3CC1-CBAB-17DA670FF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2555"/>
            <a:ext cx="10515600" cy="57944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 analysis or syntax parsing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15C92-7395-7A14-CA27-D9E8E2B90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1504950"/>
            <a:ext cx="896302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095CF-6EED-5847-259C-A44938CAE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3853"/>
            <a:ext cx="10515600" cy="567311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96D10-517A-1F81-58F3-290021E0A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5978"/>
            <a:ext cx="9829800" cy="257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B8DE72-8082-36B1-5A1E-5034BCE4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08" y="2557810"/>
            <a:ext cx="10013691" cy="410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58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070DDF-0BA4-96E3-29CE-F2199A3E4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313" y="460472"/>
            <a:ext cx="10048875" cy="4219575"/>
          </a:xfrm>
        </p:spPr>
      </p:pic>
    </p:spTree>
    <p:extLst>
      <p:ext uri="{BB962C8B-B14F-4D97-AF65-F5344CB8AC3E}">
        <p14:creationId xmlns:p14="http://schemas.microsoft.com/office/powerpoint/2010/main" val="3342223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1A45E-4571-E815-BC79-C4C00695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5357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14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C8A66-8F5F-361D-DC6E-DA4EAFBDC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98"/>
            <a:ext cx="10515600" cy="6055665"/>
          </a:xfrm>
        </p:spPr>
        <p:txBody>
          <a:bodyPr/>
          <a:lstStyle/>
          <a:p>
            <a:r>
              <a:rPr lang="en-US" dirty="0"/>
              <a:t>How are words arranged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12CEBF-C294-C65F-CAED-26BC47245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914206"/>
            <a:ext cx="107632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66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A22AC-B6B1-8CE2-0630-93230CB09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7910"/>
            <a:ext cx="10515600" cy="5869053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C744D-0B65-FF3C-F4C9-4DAFBEC67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7" y="1619250"/>
            <a:ext cx="987742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61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5DEF5-83F7-70F9-2A97-6AA9588C8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151" y="621976"/>
            <a:ext cx="10515600" cy="4351338"/>
          </a:xfrm>
        </p:spPr>
        <p:txBody>
          <a:bodyPr/>
          <a:lstStyle/>
          <a:p>
            <a:r>
              <a:rPr lang="en-US" dirty="0"/>
              <a:t>Example 2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E8D01-27C8-406E-AFCA-5B9977D6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1414462"/>
            <a:ext cx="94964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9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B63F5-4907-738E-2AB1-CDFAC33CE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75116-C110-3597-1033-03DDFBA99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42" y="2372405"/>
            <a:ext cx="103536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6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30583-144B-259B-3B8E-EE7D42A7A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313"/>
            <a:ext cx="10515600" cy="4351338"/>
          </a:xfrm>
        </p:spPr>
        <p:txBody>
          <a:bodyPr/>
          <a:lstStyle/>
          <a:p>
            <a:r>
              <a:rPr lang="en-US" dirty="0"/>
              <a:t>Parsing and Parser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E7CBA-F33D-F3D2-7DE8-92D1AF94D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23012"/>
            <a:ext cx="95154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22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73D947-8F24-F0F1-071C-1FE03F2D4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96" y="809972"/>
            <a:ext cx="6569317" cy="24015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860FE8-09C2-CFAC-8923-0D8359C2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" y="3646480"/>
            <a:ext cx="947737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7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D3D8E-730F-09BE-2383-42C3F508A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682441"/>
          </a:xfrm>
        </p:spPr>
        <p:txBody>
          <a:bodyPr/>
          <a:lstStyle/>
          <a:p>
            <a:r>
              <a:rPr lang="en-US" dirty="0"/>
              <a:t>Parse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97398-A3EE-D0C6-B344-DF93728DA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63" y="1243400"/>
            <a:ext cx="92202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85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3844-1760-0A97-7692-28FF2CDE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E33F-0B7A-6D47-7F2D-90F3E6257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FC57-DC11-8D53-8B7E-DA84C6C0D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15297"/>
            <a:ext cx="118872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38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FC36-4371-E45C-2CFF-D50F49726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216D-2A10-F79B-C462-DB422C39E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47000-7B17-5EB1-93EC-8F2911B41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6584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9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E1A12-73B4-C5C6-1F0D-20174D8A6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5" y="603315"/>
            <a:ext cx="10515600" cy="4351338"/>
          </a:xfrm>
        </p:spPr>
        <p:txBody>
          <a:bodyPr/>
          <a:lstStyle/>
          <a:p>
            <a:r>
              <a:rPr lang="en-US" dirty="0"/>
              <a:t>Top down parsing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44AA1-5070-096B-2ECF-660954DAE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1290637"/>
            <a:ext cx="118967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75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073BE2-8E48-B70E-7713-35FBB9B6E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324" y="511336"/>
            <a:ext cx="6734175" cy="1095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DE52B-08D8-3DE9-9058-1608BE99D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324" y="1337485"/>
            <a:ext cx="6819900" cy="2428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FDFA0A-4ADE-966D-B26A-7C866052D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237" y="3647978"/>
            <a:ext cx="72294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94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CC699-E020-E6AA-241F-5C092B8A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43" y="71438"/>
            <a:ext cx="6600825" cy="323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164D24-80EA-B81E-5FB1-1F773C02D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685" y="3176587"/>
            <a:ext cx="65055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30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A0933-3377-E0A4-02E4-C0AB5A44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C594-096B-C303-3FED-7A882B803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4886B-8A36-A96D-38F7-965AB0630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04" y="365124"/>
            <a:ext cx="9041975" cy="487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23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7234-6CE5-30C2-9075-1B435FD6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BE2A4-56F3-056C-602F-195943038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A4589-2F66-EC05-E745-E9595008E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27" y="365124"/>
            <a:ext cx="11362549" cy="597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70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829726-6DB8-D0DC-8266-2EA48D892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6" y="183987"/>
            <a:ext cx="11321438" cy="566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63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670BE-B8A7-44F2-D013-EB57BC35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883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Derivation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0D01E-0899-A9FD-0ED1-32FBB8254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423627"/>
            <a:ext cx="99155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83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10C21-1E10-0B64-3348-E2BB9CDA5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Derivation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D0CDC-70B0-B4FF-6C2D-15F04A0B3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84" y="2309813"/>
            <a:ext cx="98393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33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CAFFA-87D9-221C-E953-C25111447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80" y="644411"/>
            <a:ext cx="10515600" cy="58503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Grammar rules of English </a:t>
            </a:r>
          </a:p>
          <a:p>
            <a:pPr marL="0" indent="0">
              <a:buNone/>
            </a:pPr>
            <a:r>
              <a:rPr lang="en-US" dirty="0"/>
              <a:t>Grammar rules define how words and phrases are structured to form </a:t>
            </a:r>
            <a:r>
              <a:rPr lang="en-US" b="1" dirty="0"/>
              <a:t>meaningful sentences</a:t>
            </a:r>
            <a:r>
              <a:rPr lang="en-US" dirty="0"/>
              <a:t>. NLP models rely on these rules for </a:t>
            </a:r>
            <a:r>
              <a:rPr lang="en-US" b="1" dirty="0"/>
              <a:t>syntactic parsing, machine translation, and information retrieval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Basic Grammar Rules in NLP</a:t>
            </a:r>
          </a:p>
          <a:p>
            <a:pPr marL="0" indent="0">
              <a:buNone/>
            </a:pPr>
            <a:r>
              <a:rPr lang="en-US" dirty="0"/>
              <a:t>Sentence Structure (S → NP VP)</a:t>
            </a:r>
          </a:p>
          <a:p>
            <a:pPr marL="0" indent="0">
              <a:buNone/>
            </a:pPr>
            <a:r>
              <a:rPr lang="en-US" dirty="0"/>
              <a:t>Example: "The cat sleeps.“</a:t>
            </a:r>
          </a:p>
          <a:p>
            <a:pPr marL="0" indent="0">
              <a:buNone/>
            </a:pPr>
            <a:r>
              <a:rPr lang="en-US" dirty="0"/>
              <a:t>S (Sentence)</a:t>
            </a:r>
          </a:p>
          <a:p>
            <a:pPr marL="0" indent="0">
              <a:buNone/>
            </a:pPr>
            <a:r>
              <a:rPr lang="en-US" dirty="0"/>
              <a:t>├── NP (Noun Phrase) → "The cat"</a:t>
            </a:r>
          </a:p>
          <a:p>
            <a:pPr marL="0" indent="0">
              <a:buNone/>
            </a:pPr>
            <a:r>
              <a:rPr lang="en-US" dirty="0"/>
              <a:t>├── VP (Verb Phrase) → "sleeps"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4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27B19-083A-C402-CD18-0030A0917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249"/>
            <a:ext cx="10515600" cy="588771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Part of Speech (POS) Tagging</a:t>
            </a:r>
          </a:p>
          <a:p>
            <a:pPr marL="0" indent="0">
              <a:buNone/>
            </a:pPr>
            <a:r>
              <a:rPr lang="en-US" dirty="0"/>
              <a:t>Identifies each word's </a:t>
            </a:r>
            <a:r>
              <a:rPr lang="en-US" b="1" dirty="0"/>
              <a:t>grammatical category</a:t>
            </a:r>
            <a:r>
              <a:rPr lang="en-US" dirty="0"/>
              <a:t> (noun, verb, adjective, etc.).</a:t>
            </a:r>
          </a:p>
          <a:p>
            <a:pPr marL="0" indent="0">
              <a:buNone/>
            </a:pPr>
            <a:r>
              <a:rPr lang="en-US" dirty="0"/>
              <a:t>The/DT cat/NN sleeps/VBZ .</a:t>
            </a:r>
          </a:p>
          <a:p>
            <a:pPr marL="0" indent="0">
              <a:buNone/>
            </a:pPr>
            <a:r>
              <a:rPr lang="en-US" dirty="0"/>
              <a:t>DT (Determiner): "The“</a:t>
            </a:r>
          </a:p>
          <a:p>
            <a:pPr marL="0" indent="0">
              <a:buNone/>
            </a:pPr>
            <a:r>
              <a:rPr lang="en-US" dirty="0"/>
              <a:t>NN (Noun): "cat“</a:t>
            </a:r>
          </a:p>
          <a:p>
            <a:pPr marL="0" indent="0">
              <a:buNone/>
            </a:pPr>
            <a:r>
              <a:rPr lang="en-US" dirty="0"/>
              <a:t>VBZ (Verb, 3rd person singular): "sleeps“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827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51779-10D2-59C9-7229-C4DDAA5AF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869"/>
            <a:ext cx="10515600" cy="572909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Word Order (Syntax)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English typically follows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Subject-Verb-Object (SVO)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 order ("She eats apples"). Deviations ("Apples she eats") sound unnatural.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English follows SVO (Subject-Verb-Object) order.</a:t>
            </a:r>
          </a:p>
          <a:p>
            <a:pPr marL="0" indent="0">
              <a:buNone/>
            </a:pPr>
            <a:r>
              <a:rPr lang="en-US" dirty="0"/>
              <a:t>Example: "John reads a book.“</a:t>
            </a:r>
          </a:p>
          <a:p>
            <a:pPr marL="0" indent="0">
              <a:buNone/>
            </a:pPr>
            <a:r>
              <a:rPr lang="en-US" dirty="0"/>
              <a:t>Incorrect: "Reads John a book."</a:t>
            </a:r>
          </a:p>
        </p:txBody>
      </p:sp>
    </p:spTree>
    <p:extLst>
      <p:ext uri="{BB962C8B-B14F-4D97-AF65-F5344CB8AC3E}">
        <p14:creationId xmlns:p14="http://schemas.microsoft.com/office/powerpoint/2010/main" val="150888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39DAE-CA6D-97E3-8021-8DC435FAC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9127"/>
            <a:ext cx="10515600" cy="54678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Tense &amp; Agreement</a:t>
            </a:r>
          </a:p>
          <a:p>
            <a:pPr marL="0" indent="0">
              <a:buNone/>
            </a:pPr>
            <a:r>
              <a:rPr lang="en-US" dirty="0"/>
              <a:t>Singular vs. Plural:</a:t>
            </a:r>
          </a:p>
          <a:p>
            <a:pPr marL="0" indent="0">
              <a:buNone/>
            </a:pPr>
            <a:r>
              <a:rPr lang="en-US" dirty="0"/>
              <a:t> "She runs" (Correct) | "She run" (Incorrect)`</a:t>
            </a:r>
          </a:p>
          <a:p>
            <a:pPr marL="0" indent="0">
              <a:buNone/>
            </a:pPr>
            <a:r>
              <a:rPr lang="en-US" dirty="0"/>
              <a:t>Verb Tense: "I eat" (Present) | "I ate" (Past)`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Ambiguity in Grammar</a:t>
            </a:r>
          </a:p>
          <a:p>
            <a:pPr marL="0" indent="0">
              <a:buNone/>
            </a:pPr>
            <a:r>
              <a:rPr lang="en-US" dirty="0"/>
              <a:t>Lexical Ambiguity: "bank" (financial institution vs. riverbank)</a:t>
            </a:r>
          </a:p>
          <a:p>
            <a:pPr marL="0" indent="0">
              <a:buNone/>
            </a:pPr>
            <a:r>
              <a:rPr lang="en-US" dirty="0"/>
              <a:t>Syntactic Ambiguity: "I saw the man with the telescope." (Who has the telescope?)</a:t>
            </a:r>
          </a:p>
        </p:txBody>
      </p:sp>
    </p:spTree>
    <p:extLst>
      <p:ext uri="{BB962C8B-B14F-4D97-AF65-F5344CB8AC3E}">
        <p14:creationId xmlns:p14="http://schemas.microsoft.com/office/powerpoint/2010/main" val="27408770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97960-E4BD-8E85-AFBE-E4C06AA52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261"/>
            <a:ext cx="10701130" cy="57297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Treebank</a:t>
            </a:r>
          </a:p>
          <a:p>
            <a:pPr>
              <a:buNone/>
            </a:pP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A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treebank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 is a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linguistically annotated corpus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 where sentences are parsed into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syntactic trees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, representing their grammatical structure. Each word is tagged with its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part of speech (POS)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 and linked to other words in a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hierarchical structure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. </a:t>
            </a:r>
            <a:r>
              <a:rPr lang="en-US" dirty="0"/>
              <a:t>It provides structured information about </a:t>
            </a:r>
            <a:r>
              <a:rPr lang="en-US" b="1" dirty="0"/>
              <a:t>sentence structure, word relationships, and grammatical functions</a:t>
            </a:r>
            <a:r>
              <a:rPr lang="en-US" dirty="0"/>
              <a:t>.</a:t>
            </a:r>
          </a:p>
          <a:p>
            <a:r>
              <a:rPr lang="en-US" dirty="0"/>
              <a:t>Treebanks are classified into two major types: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Constituency Treebanks (Phrase Structure Trees)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Dependency Treebanks (Word-to-Word Relationships)</a:t>
            </a:r>
            <a:endParaRPr lang="en-US" dirty="0"/>
          </a:p>
          <a:p>
            <a:pPr marL="0" indent="0">
              <a:buNone/>
            </a:pPr>
            <a:endParaRPr lang="en-US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752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BACA0-E926-85D2-AA09-B1A2C6880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894"/>
            <a:ext cx="10515600" cy="5813069"/>
          </a:xfrm>
        </p:spPr>
        <p:txBody>
          <a:bodyPr/>
          <a:lstStyle/>
          <a:p>
            <a:pPr>
              <a:buNone/>
            </a:pPr>
            <a:r>
              <a:rPr lang="en-US" b="1" dirty="0"/>
              <a:t>Constituency Treebanks (Phrase Structure Trees)</a:t>
            </a:r>
          </a:p>
          <a:p>
            <a:pPr marL="0" indent="0">
              <a:buNone/>
            </a:pPr>
            <a:r>
              <a:rPr lang="en-US" dirty="0"/>
              <a:t>Constituency Treebanks use </a:t>
            </a:r>
            <a:r>
              <a:rPr lang="en-US" b="1" dirty="0"/>
              <a:t>phrase structure grammar (CFG - Context-Free Grammar)</a:t>
            </a:r>
            <a:r>
              <a:rPr lang="en-US" dirty="0"/>
              <a:t> to </a:t>
            </a:r>
            <a:r>
              <a:rPr lang="en-US" b="1" dirty="0"/>
              <a:t>represent hierarchical sentence structure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sentence is </a:t>
            </a:r>
            <a:r>
              <a:rPr lang="en-US" b="1" dirty="0"/>
              <a:t>broken into phrases</a:t>
            </a:r>
            <a:r>
              <a:rPr lang="en-US" dirty="0"/>
              <a:t> like </a:t>
            </a:r>
            <a:r>
              <a:rPr lang="en-US" b="1" dirty="0"/>
              <a:t>Noun Phrase (NP)</a:t>
            </a:r>
            <a:r>
              <a:rPr lang="en-US" dirty="0"/>
              <a:t> and </a:t>
            </a:r>
            <a:r>
              <a:rPr lang="en-US" b="1" dirty="0"/>
              <a:t>Verb Phrase (VP)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 Treebank</a:t>
            </a:r>
            <a:r>
              <a:rPr lang="en-US" dirty="0"/>
              <a:t>: </a:t>
            </a:r>
            <a:r>
              <a:rPr lang="en-US" b="1" dirty="0"/>
              <a:t>Penn Treebank (PTB), Brown Corpus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Parsing Type</a:t>
            </a:r>
            <a:r>
              <a:rPr lang="en-US" dirty="0"/>
              <a:t>: </a:t>
            </a:r>
            <a:r>
              <a:rPr lang="en-US" b="1" dirty="0"/>
              <a:t>Constituency Parsing (Top-down approach).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Usage in NLP</a:t>
            </a:r>
            <a:r>
              <a:rPr lang="en-US" dirty="0"/>
              <a:t>: </a:t>
            </a:r>
            <a:r>
              <a:rPr lang="en-US" b="1" dirty="0"/>
              <a:t>Syntax parsing, Machine Translation, Text Generation.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2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D32D9-E16F-621B-2137-300EF70F9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596"/>
            <a:ext cx="10515600" cy="593436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 Sentence:</a:t>
            </a:r>
            <a:r>
              <a:rPr lang="en-US" dirty="0"/>
              <a:t> </a:t>
            </a:r>
            <a:r>
              <a:rPr lang="en-US" i="1" dirty="0"/>
              <a:t>"The cat sleeps.“</a:t>
            </a:r>
          </a:p>
          <a:p>
            <a:pPr marL="0" indent="0">
              <a:buNone/>
            </a:pPr>
            <a:r>
              <a:rPr lang="en-US" dirty="0"/>
              <a:t>(S</a:t>
            </a:r>
          </a:p>
          <a:p>
            <a:pPr marL="0" indent="0">
              <a:buNone/>
            </a:pPr>
            <a:r>
              <a:rPr lang="en-US" dirty="0"/>
              <a:t>  (NP (DT The) (NN cat))</a:t>
            </a:r>
          </a:p>
          <a:p>
            <a:pPr marL="0" indent="0">
              <a:buNone/>
            </a:pPr>
            <a:r>
              <a:rPr lang="en-US" dirty="0"/>
              <a:t>  (VP (VBZ sleeps)))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 (Sentence)</a:t>
            </a:r>
          </a:p>
          <a:p>
            <a:pPr marL="0" indent="0">
              <a:buNone/>
            </a:pPr>
            <a:r>
              <a:rPr lang="en-US" dirty="0"/>
              <a:t>NP (Noun Phrase) → "The cat“</a:t>
            </a:r>
          </a:p>
          <a:p>
            <a:pPr marL="0" indent="0">
              <a:buNone/>
            </a:pPr>
            <a:r>
              <a:rPr lang="en-US" dirty="0"/>
              <a:t>VP (Verb Phrase) → "sleeps"</a:t>
            </a:r>
          </a:p>
        </p:txBody>
      </p:sp>
    </p:spTree>
    <p:extLst>
      <p:ext uri="{BB962C8B-B14F-4D97-AF65-F5344CB8AC3E}">
        <p14:creationId xmlns:p14="http://schemas.microsoft.com/office/powerpoint/2010/main" val="3377944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53342-7345-7F5F-D5A4-FB346DD05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241"/>
            <a:ext cx="10515600" cy="58597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Dependency Treebanks</a:t>
            </a:r>
          </a:p>
          <a:p>
            <a:r>
              <a:rPr lang="en-US" dirty="0"/>
              <a:t>Dependency Treebanks represent sentences as word-to-word dependencies rather than phrase structures.</a:t>
            </a:r>
          </a:p>
          <a:p>
            <a:r>
              <a:rPr lang="en-US" dirty="0"/>
              <a:t>They directly link words using grammatical relations (e.g., subject, object).</a:t>
            </a:r>
          </a:p>
          <a:p>
            <a:r>
              <a:rPr lang="en-US" dirty="0"/>
              <a:t>Example Treebank: Universal Dependencies (UD), Prague Dependency Treebank (PDT).</a:t>
            </a:r>
          </a:p>
          <a:p>
            <a:r>
              <a:rPr lang="en-US" dirty="0"/>
              <a:t>Parsing Type: Dependency Parsing (Graph-based approach).</a:t>
            </a:r>
          </a:p>
          <a:p>
            <a:r>
              <a:rPr lang="en-US" dirty="0"/>
              <a:t>Usage in NLP: Semantic parsing, Information Extraction, Chatbots.</a:t>
            </a:r>
          </a:p>
        </p:txBody>
      </p:sp>
    </p:spTree>
    <p:extLst>
      <p:ext uri="{BB962C8B-B14F-4D97-AF65-F5344CB8AC3E}">
        <p14:creationId xmlns:p14="http://schemas.microsoft.com/office/powerpoint/2010/main" val="2034497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407F-7A08-C78A-DEE9-20BE9D26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249"/>
            <a:ext cx="10515600" cy="5887714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The cat sleeps on the mat."</a:t>
            </a:r>
            <a:br>
              <a:rPr lang="en-US" dirty="0"/>
            </a:br>
            <a:r>
              <a:rPr lang="en-US" b="1" dirty="0"/>
              <a:t>Dependency Structure Representation:</a:t>
            </a:r>
          </a:p>
          <a:p>
            <a:pPr marL="0" indent="0">
              <a:buNone/>
            </a:pPr>
            <a:r>
              <a:rPr lang="en-US" dirty="0"/>
              <a:t> sleeps</a:t>
            </a:r>
          </a:p>
          <a:p>
            <a:pPr marL="0" indent="0">
              <a:buNone/>
            </a:pPr>
            <a:r>
              <a:rPr lang="en-US" dirty="0"/>
              <a:t>      ├── cat (</a:t>
            </a:r>
            <a:r>
              <a:rPr lang="en-US" dirty="0" err="1"/>
              <a:t>nsubj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│   ├── The (det)</a:t>
            </a:r>
          </a:p>
          <a:p>
            <a:pPr marL="0" indent="0">
              <a:buNone/>
            </a:pPr>
            <a:r>
              <a:rPr lang="en-US" dirty="0"/>
              <a:t>      ├── on (prep)</a:t>
            </a:r>
          </a:p>
          <a:p>
            <a:pPr marL="0" indent="0">
              <a:buNone/>
            </a:pPr>
            <a:r>
              <a:rPr lang="en-US" dirty="0"/>
              <a:t>          ├── mat (</a:t>
            </a:r>
            <a:r>
              <a:rPr lang="en-US" dirty="0" err="1"/>
              <a:t>pobj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├── the (det)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Root word: "sleeps" (main verb)"cat" depends on "sleeps" as </a:t>
            </a:r>
            <a:r>
              <a:rPr lang="en-US" dirty="0" err="1"/>
              <a:t>nsubj</a:t>
            </a:r>
            <a:r>
              <a:rPr lang="en-US" dirty="0"/>
              <a:t> (subject)."on" (preposition) depends on "</a:t>
            </a:r>
            <a:r>
              <a:rPr lang="en-US" dirty="0" err="1"/>
              <a:t>sleeps"."mat</a:t>
            </a:r>
            <a:r>
              <a:rPr lang="en-US" dirty="0"/>
              <a:t>" (object of preposition) depends on "on".</a:t>
            </a:r>
          </a:p>
        </p:txBody>
      </p:sp>
    </p:spTree>
    <p:extLst>
      <p:ext uri="{BB962C8B-B14F-4D97-AF65-F5344CB8AC3E}">
        <p14:creationId xmlns:p14="http://schemas.microsoft.com/office/powerpoint/2010/main" val="39196952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5FFEBFD-8886-0F0A-CE79-9F2C63FC2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72" y="365125"/>
            <a:ext cx="88201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07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B1B95-63A4-ACEE-3CC1-A363994A1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1927"/>
            <a:ext cx="10853058" cy="63821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Step-by-Step process of Dependencies</a:t>
            </a:r>
          </a:p>
          <a:p>
            <a:pPr marL="0" indent="0">
              <a:buNone/>
            </a:pPr>
            <a:r>
              <a:rPr lang="en-US" dirty="0"/>
              <a:t>1. Identifying the Root Word</a:t>
            </a:r>
          </a:p>
          <a:p>
            <a:pPr marL="0" indent="0">
              <a:buNone/>
            </a:pPr>
            <a:r>
              <a:rPr lang="en-US" dirty="0"/>
              <a:t>"sleeps" is the main verb (ROOT) of the sentence.</a:t>
            </a:r>
          </a:p>
          <a:p>
            <a:pPr marL="0" indent="0">
              <a:buNone/>
            </a:pPr>
            <a:r>
              <a:rPr lang="en-US" dirty="0"/>
              <a:t>It does not depend on any other word because it's the main action.</a:t>
            </a:r>
          </a:p>
          <a:p>
            <a:pPr marL="0" indent="0">
              <a:buNone/>
            </a:pPr>
            <a:r>
              <a:rPr lang="en-US" dirty="0"/>
              <a:t>2. Identifying the Subject</a:t>
            </a:r>
          </a:p>
          <a:p>
            <a:pPr marL="0" indent="0">
              <a:buNone/>
            </a:pPr>
            <a:r>
              <a:rPr lang="en-US" dirty="0"/>
              <a:t>"cat" is the subject (</a:t>
            </a:r>
            <a:r>
              <a:rPr lang="en-US" dirty="0" err="1"/>
              <a:t>nsubj</a:t>
            </a:r>
            <a:r>
              <a:rPr lang="en-US" dirty="0"/>
              <a:t>) because it performs the action of sleeping.</a:t>
            </a:r>
          </a:p>
          <a:p>
            <a:pPr marL="0" indent="0">
              <a:buNone/>
            </a:pPr>
            <a:r>
              <a:rPr lang="en-US" dirty="0"/>
              <a:t>The subject depends on the verb ("sleeps").</a:t>
            </a:r>
          </a:p>
          <a:p>
            <a:pPr marL="0" indent="0">
              <a:buNone/>
            </a:pPr>
            <a:r>
              <a:rPr lang="en-US" dirty="0"/>
              <a:t>3. Determiners (Articles) Modify Nouns</a:t>
            </a:r>
          </a:p>
          <a:p>
            <a:pPr marL="0" indent="0">
              <a:buNone/>
            </a:pPr>
            <a:r>
              <a:rPr lang="en-US" dirty="0"/>
              <a:t>"The" (det) is a determiner for "cat" → "The cat".</a:t>
            </a:r>
          </a:p>
          <a:p>
            <a:pPr marL="0" indent="0">
              <a:buNone/>
            </a:pPr>
            <a:r>
              <a:rPr lang="en-US" dirty="0"/>
              <a:t>Similarly, "the" (det) is a determiner for "mat" → "The mat".</a:t>
            </a:r>
          </a:p>
          <a:p>
            <a:pPr marL="0" indent="0">
              <a:buNone/>
            </a:pPr>
            <a:r>
              <a:rPr lang="en-US" dirty="0"/>
              <a:t>4. Identifying the Prepositional Phrase</a:t>
            </a:r>
          </a:p>
          <a:p>
            <a:pPr marL="0" indent="0">
              <a:buNone/>
            </a:pPr>
            <a:r>
              <a:rPr lang="en-US" dirty="0"/>
              <a:t>"on" (prep) is a preposition linking "sleeps" to "mat".</a:t>
            </a:r>
          </a:p>
          <a:p>
            <a:pPr marL="0" indent="0">
              <a:buNone/>
            </a:pPr>
            <a:r>
              <a:rPr lang="en-US" dirty="0"/>
              <a:t>"mat" (</a:t>
            </a:r>
            <a:r>
              <a:rPr lang="en-US" dirty="0" err="1"/>
              <a:t>pobj</a:t>
            </a:r>
            <a:r>
              <a:rPr lang="en-US" dirty="0"/>
              <a:t> - prepositional object) is the object of "on" → "on the mat".</a:t>
            </a:r>
          </a:p>
        </p:txBody>
      </p:sp>
    </p:spTree>
    <p:extLst>
      <p:ext uri="{BB962C8B-B14F-4D97-AF65-F5344CB8AC3E}">
        <p14:creationId xmlns:p14="http://schemas.microsoft.com/office/powerpoint/2010/main" val="1170893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39CD-AE21-BA04-F5C8-2B4B76C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of Treebanks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EFF512D-DBEE-33CA-EDE6-6C86ABA27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604864"/>
              </p:ext>
            </p:extLst>
          </p:nvPr>
        </p:nvGraphicFramePr>
        <p:xfrm>
          <a:off x="838200" y="1901906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556992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86913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786117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Constituency Treebanks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Dependency Treebanks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18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Structure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Phrase-based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Word-to-Word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41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Grammar Type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Context-Free Grammar (CFG)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Dependency Grammar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65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Parsing Type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Top-down Parsing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Graph-based Parsing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61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Example Treebanks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Penn Treebank (PTB), Brown Corpus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Universal Dependencies (UD), Prague Dependency Treebank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89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Best For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Syntax Checking, Grammar Correction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Chatbots, Machine Translation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023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2829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34ED8-CE56-7B82-90ED-6CB47509F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3853"/>
            <a:ext cx="10515600" cy="567311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1. Probabilistic Context-Free Grammar (PCFG)</a:t>
            </a:r>
          </a:p>
          <a:p>
            <a:pPr>
              <a:buNone/>
            </a:pPr>
            <a:r>
              <a:rPr lang="en-US" dirty="0"/>
              <a:t>It’s like a </a:t>
            </a:r>
            <a:r>
              <a:rPr lang="en-US" b="1" dirty="0"/>
              <a:t>normal grammar</a:t>
            </a:r>
            <a:r>
              <a:rPr lang="en-US" dirty="0"/>
              <a:t>, but each rule has a probability. The probabilities tell us </a:t>
            </a:r>
            <a:r>
              <a:rPr lang="en-US" b="1" dirty="0"/>
              <a:t>how likely</a:t>
            </a:r>
            <a:r>
              <a:rPr lang="en-US" dirty="0"/>
              <a:t> a rule is used.</a:t>
            </a:r>
          </a:p>
          <a:p>
            <a:pPr>
              <a:buNone/>
            </a:pPr>
            <a:r>
              <a:rPr lang="en-US" b="1" dirty="0"/>
              <a:t>Example PCFG Rules: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Sentence → Noun Phrase + Verb Phrase (1.0)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Noun Phrase → "The cat" (0.6) | "A dog" (0.4)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Verb Phrase → "runs" (0.7) | "sleeps" (0.3)</a:t>
            </a:r>
            <a:endParaRPr lang="en-US" dirty="0"/>
          </a:p>
          <a:p>
            <a:pPr>
              <a:buNone/>
            </a:pPr>
            <a:r>
              <a:rPr lang="en-US" b="1" dirty="0"/>
              <a:t>Generating a Sentence: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"The cat runs"</a:t>
            </a:r>
            <a:r>
              <a:rPr lang="en-US" dirty="0"/>
              <a:t> → 1.0×0.6×0.7=0.421.0 \times 0.6 \times 0.7 = 0.421.0×0.6×0.7=0.42 (42% chance)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"A dog sleeps"</a:t>
            </a:r>
            <a:r>
              <a:rPr lang="en-US" dirty="0"/>
              <a:t> → 1.0×0.4×0.3=0.121.0 \times 0.4 \times 0.3 = 0.121.0×0.4×0.3=0.12 (12% chance)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471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08D70-FAD1-9B70-458B-60A10EC8F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5" y="242596"/>
            <a:ext cx="11084767" cy="6036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Probabilistic CYK Algorithm</a:t>
            </a:r>
          </a:p>
          <a:p>
            <a:pPr marL="0" indent="0">
              <a:buNone/>
            </a:pPr>
            <a:r>
              <a:rPr lang="en-US" dirty="0"/>
              <a:t>This is used for parsing (checking if a sentence is valid). </a:t>
            </a:r>
          </a:p>
          <a:p>
            <a:pPr marL="0" indent="0">
              <a:buNone/>
            </a:pPr>
            <a:r>
              <a:rPr lang="en-US" dirty="0"/>
              <a:t>It follows bottom-up parsing, meaning it builds the sentence step by step.</a:t>
            </a:r>
          </a:p>
          <a:p>
            <a:pPr marL="0" indent="0">
              <a:buNone/>
            </a:pPr>
            <a:r>
              <a:rPr lang="en-US" dirty="0"/>
              <a:t>Example: Parsing "The cat sleeps </a:t>
            </a:r>
          </a:p>
          <a:p>
            <a:pPr marL="0" indent="0">
              <a:buNone/>
            </a:pPr>
            <a:r>
              <a:rPr lang="en-US" dirty="0"/>
              <a:t>"Grammar Rules with Probabilities:</a:t>
            </a:r>
          </a:p>
          <a:p>
            <a:pPr marL="0" indent="0">
              <a:buNone/>
            </a:pPr>
            <a:r>
              <a:rPr lang="en-US" dirty="0"/>
              <a:t>NP → "The cat" (0.6) | "A dog" (0.4)</a:t>
            </a:r>
          </a:p>
          <a:p>
            <a:pPr marL="0" indent="0">
              <a:buNone/>
            </a:pPr>
            <a:r>
              <a:rPr lang="en-US" dirty="0"/>
              <a:t>VP → "sleeps" (0.3) | "runs" (0.7)</a:t>
            </a:r>
          </a:p>
          <a:p>
            <a:pPr marL="0" indent="0">
              <a:buNone/>
            </a:pPr>
            <a:r>
              <a:rPr lang="en-US" dirty="0"/>
              <a:t>S → NP VP (1.0)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"The cat" → NP (0.6)"sleeps" → VP (0.3)</a:t>
            </a:r>
          </a:p>
          <a:p>
            <a:pPr marL="0" indent="0">
              <a:buNone/>
            </a:pPr>
            <a:r>
              <a:rPr lang="en-US" dirty="0"/>
              <a:t>"The cat sleeps" → S (0.6 × 0.3 = 0.18)</a:t>
            </a:r>
          </a:p>
        </p:txBody>
      </p:sp>
    </p:spTree>
    <p:extLst>
      <p:ext uri="{BB962C8B-B14F-4D97-AF65-F5344CB8AC3E}">
        <p14:creationId xmlns:p14="http://schemas.microsoft.com/office/powerpoint/2010/main" val="705200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E8575-1356-5D4B-28B7-9C47E8831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9837"/>
            <a:ext cx="10515600" cy="5617126"/>
          </a:xfrm>
        </p:spPr>
        <p:txBody>
          <a:bodyPr/>
          <a:lstStyle/>
          <a:p>
            <a:pPr>
              <a:buNone/>
            </a:pPr>
            <a:r>
              <a:rPr lang="en-US" b="1" dirty="0"/>
              <a:t>3. Probabilistic Lexicalized CFG (PLCFRG)</a:t>
            </a:r>
          </a:p>
          <a:p>
            <a:pPr>
              <a:buNone/>
            </a:pPr>
            <a:r>
              <a:rPr lang="en-US" dirty="0"/>
              <a:t>This is a </a:t>
            </a:r>
            <a:r>
              <a:rPr lang="en-US" b="1" dirty="0"/>
              <a:t>PCFG with word-specific rules</a:t>
            </a:r>
            <a:r>
              <a:rPr lang="en-US" dirty="0"/>
              <a:t>. It improves accuracy by considering </a:t>
            </a:r>
            <a:r>
              <a:rPr lang="en-US" b="1" dirty="0"/>
              <a:t>which words</a:t>
            </a:r>
            <a:r>
              <a:rPr lang="en-US" dirty="0"/>
              <a:t> are used together.</a:t>
            </a:r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VP[chased] → Verb[chased] NP (0.8)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Verb[chased] → "chased" (1.0)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NP[dog] → "the dog" (0.9)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This tells us "chased" is more likely to be followed by "the dog" rather than "the cat"!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651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1594</Words>
  <Application>Microsoft Office PowerPoint</Application>
  <PresentationFormat>Widescreen</PresentationFormat>
  <Paragraphs>183</Paragraphs>
  <Slides>45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Aptos Display</vt:lpstr>
      <vt:lpstr>Arial</vt:lpstr>
      <vt:lpstr>DeepSeek-CJK-patch</vt:lpstr>
      <vt:lpstr>Office Theme</vt:lpstr>
      <vt:lpstr>UNIT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 of Treebanks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Acer-H81PC144</dc:creator>
  <cp:lastModifiedBy>dinakaran.j77@gmail.com</cp:lastModifiedBy>
  <cp:revision>33</cp:revision>
  <dcterms:created xsi:type="dcterms:W3CDTF">2025-03-05T05:28:11Z</dcterms:created>
  <dcterms:modified xsi:type="dcterms:W3CDTF">2025-04-03T13:55:40Z</dcterms:modified>
</cp:coreProperties>
</file>